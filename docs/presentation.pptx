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fe56d2-080d-4de6-328d-e24de0d06c0a}">
          <p14:sldIdLst>
            <p14:sldId id="256"/>
          </p14:sldIdLst>
        </p14:section>
        <p14:section name="Problem and approach" id="{d19e9c88-ab68-c104-35f3-ce8b46138a30}">
          <p14:sldIdLst>
            <p14:sldId id="257"/>
          </p14:sldIdLst>
        </p14:section>
        <p14:section name="System design" id="{05e16cc1-1025-6e5d-b319-88e764d71956}">
          <p14:sldIdLst>
            <p14:sldId id="258"/>
          </p14:sldIdLst>
        </p14:section>
        <p14:section name="Implementation" id="{b315b99e-8551-df5b-677b-fb2f683d6eb0}">
          <p14:sldIdLst>
            <p14:sldId id="259"/>
          </p14:sldIdLst>
        </p14:section>
        <p14:section name="Results" id="{b9a422d9-d07e-43a1-1933-50b1ecbc1cac}">
          <p14:sldIdLst>
            <p14:sldId id="260"/>
          </p14:sldIdLst>
        </p14:section>
        <p14:section name="Domain impact" id="{9fd42c0d-ac20-92c5-a00a-971f48bbc5ab}">
          <p14:sldIdLst>
            <p14:sldId id="261"/>
          </p14:sldIdLst>
        </p14:section>
        <p14:section name="Limitations" id="{fd380205-99b7-b4fb-d6f7-79cb65711ddd}">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3"/>
                </a:solidFill>
                <a:latin typeface="+mn-lt"/>
              </a:defRPr>
            </a:pPr>
            <a:r>
              <a:rPr sz="1500" b="0" i="0" u="none" strike="noStrike">
                <a:solidFill>
                  <a:srgbClr val="1F2933"/>
                </a:solidFill>
                <a:latin typeface="+mn-lt"/>
              </a:rPr>
              <a:t>Accuracy on held-out labelled tweets</a:t>
            </a:r>
          </a:p>
        </c:rich>
      </c:tx>
      <c:layout/>
      <c:overlay val="0"/>
    </c:title>
    <c:autoTitleDeleted val="0"/>
    <c:plotArea>
      <c:layout/>
      <c:barChart>
        <c:barDir val="col"/>
        <c:grouping val="clustered"/>
        <c:varyColors val="0"/>
        <c:ser>
          <c:idx val="0"/>
          <c:order val="0"/>
          <c:tx>
            <c:strRef>
              <c:f>Sheet1!$B$1</c:f>
              <c:strCache>
                <c:ptCount val="1"/>
                <c:pt idx="0">
                  <c:v>RiskPulse</c:v>
                </c:pt>
              </c:strCache>
            </c:strRef>
          </c:tx>
          <c:spPr>
            <a:solidFill>
              <a:srgbClr val="127A70"/>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Sentiment</c:v>
                  </c:pt>
                  <c:pt idx="1">
                    <c:v>Event type</c:v>
                  </c:pt>
                </c:lvl>
              </c:multiLvlStrCache>
            </c:multiLvlStrRef>
          </c:cat>
          <c:val>
            <c:numRef>
              <c:f>Sheet1!$B$2:$B$3</c:f>
              <c:numCache>
                <c:formatCode>General</c:formatCode>
                <c:ptCount val="2"/>
                <c:pt idx="0">
                  <c:v>88.1</c:v>
                </c:pt>
                <c:pt idx="1">
                  <c:v>89</c:v>
                </c:pt>
              </c:numCache>
            </c:numRef>
          </c:val>
        </c:ser>
        <c:ser>
          <c:idx val="1"/>
          <c:order val="1"/>
          <c:tx>
            <c:strRef>
              <c:f>Sheet1!$C$1</c:f>
              <c:strCache>
                <c:ptCount val="1"/>
                <c:pt idx="0">
                  <c:v>Naive baseline</c:v>
                </c:pt>
              </c:strCache>
            </c:strRef>
          </c:tx>
          <c:spPr>
            <a:solidFill>
              <a:srgbClr val="7B8794"/>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Sentiment</c:v>
                  </c:pt>
                  <c:pt idx="1">
                    <c:v>Event type</c:v>
                  </c:pt>
                </c:lvl>
              </c:multiLvlStrCache>
            </c:multiLvlStrRef>
          </c:cat>
          <c:val>
            <c:numRef>
              <c:f>Sheet1!$C$2:$C$3</c:f>
              <c:numCache>
                <c:formatCode>General</c:formatCode>
                <c:ptCount val="2"/>
                <c:pt idx="0">
                  <c:v>65.6</c:v>
                </c:pt>
                <c:pt idx="1">
                  <c:v>35.8</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3"/>
                </a:solidFill>
                <a:latin typeface="+mn-lt"/>
              </a:defRPr>
            </a:pPr>
            <a:r>
              <a:rPr sz="1500" b="0" i="0" u="none" strike="noStrike">
                <a:solidFill>
                  <a:srgbClr val="1F2933"/>
                </a:solidFill>
                <a:latin typeface="+mn-lt"/>
              </a:rPr>
              <a:t>Price move vs the stock's normal day</a:t>
            </a:r>
          </a:p>
        </c:rich>
      </c:tx>
      <c:layout/>
      <c:overlay val="0"/>
    </c:title>
    <c:autoTitleDeleted val="0"/>
    <c:plotArea>
      <c:layout/>
      <c:barChart>
        <c:barDir val="col"/>
        <c:grouping val="clustered"/>
        <c:varyColors val="0"/>
        <c:ser>
          <c:idx val="0"/>
          <c:order val="0"/>
          <c:tx>
            <c:strRef>
              <c:f>Sheet1!$B$1</c:f>
              <c:strCache>
                <c:ptCount val="1"/>
                <c:pt idx="0">
                  <c:v>Same day</c:v>
                </c:pt>
              </c:strCache>
            </c:strRef>
          </c:tx>
          <c:spPr>
            <a:solidFill>
              <a:srgbClr val="C98A00"/>
            </a:solidFill>
            <a:effectLst/>
          </c:spPr>
          <c:invertIfNegative val="0"/>
          <c:dLbls>
            <c:numFmt formatCode="0.00&quot;x&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Impact 1-3</c:v>
                  </c:pt>
                  <c:pt idx="1">
                    <c:v>Impact 4-6</c:v>
                  </c:pt>
                  <c:pt idx="2">
                    <c:v>Impact 7-10</c:v>
                  </c:pt>
                </c:lvl>
              </c:multiLvlStrCache>
            </c:multiLvlStrRef>
          </c:cat>
          <c:val>
            <c:numRef>
              <c:f>Sheet1!$B$2:$B$4</c:f>
              <c:numCache>
                <c:formatCode>General</c:formatCode>
                <c:ptCount val="3"/>
                <c:pt idx="0">
                  <c:v>0.96</c:v>
                </c:pt>
                <c:pt idx="1">
                  <c:v>1.04</c:v>
                </c:pt>
                <c:pt idx="2">
                  <c:v>3.2</c:v>
                </c:pt>
              </c:numCache>
            </c:numRef>
          </c:val>
        </c:ser>
        <c:ser>
          <c:idx val="1"/>
          <c:order val="1"/>
          <c:tx>
            <c:strRef>
              <c:f>Sheet1!$C$1</c:f>
              <c:strCache>
                <c:ptCount val="1"/>
                <c:pt idx="0">
                  <c:v>Next day</c:v>
                </c:pt>
              </c:strCache>
            </c:strRef>
          </c:tx>
          <c:spPr>
            <a:solidFill>
              <a:srgbClr val="7B8794"/>
            </a:solidFill>
            <a:effectLst/>
          </c:spPr>
          <c:invertIfNegative val="0"/>
          <c:dLbls>
            <c:numFmt formatCode="0.00&quot;x&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Impact 1-3</c:v>
                  </c:pt>
                  <c:pt idx="1">
                    <c:v>Impact 4-6</c:v>
                  </c:pt>
                  <c:pt idx="2">
                    <c:v>Impact 7-10</c:v>
                  </c:pt>
                </c:lvl>
              </c:multiLvlStrCache>
            </c:multiLvlStrRef>
          </c:cat>
          <c:val>
            <c:numRef>
              <c:f>Sheet1!$C$2:$C$4</c:f>
              <c:numCache>
                <c:formatCode>General</c:formatCode>
                <c:ptCount val="3"/>
                <c:pt idx="0">
                  <c:v>0.98</c:v>
                </c:pt>
                <c:pt idx="1">
                  <c:v>1.1</c:v>
                </c:pt>
                <c:pt idx="2">
                  <c:v>1.24</c:v>
                </c:pt>
              </c:numCache>
            </c:numRef>
          </c:val>
        </c:ser>
        <c:dLbls>
          <c:numFmt formatCode="0.00&quot;x&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4E7EB"/>
              </a:solidFill>
              <a:prstDash val="solid"/>
              <a:round/>
            </a:ln>
          </c:spPr>
        </c:majorGridlines>
        <c:numFmt formatCode="0.0&quot;x&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3"/>
                </a:solidFill>
                <a:latin typeface="+mn-lt"/>
              </a:defRPr>
            </a:pPr>
            <a:r>
              <a:rPr sz="1500" b="0" i="0" u="none" strike="noStrike">
                <a:solidFill>
                  <a:srgbClr val="1F2933"/>
                </a:solidFill>
                <a:latin typeface="+mn-lt"/>
              </a:rPr>
              <a:t>Loss on the $862m book (impact-8 event)</a:t>
            </a:r>
          </a:p>
        </c:rich>
      </c:tx>
      <c:layout/>
      <c:overlay val="0"/>
    </c:title>
    <c:autoTitleDeleted val="0"/>
    <c:plotArea>
      <c:layout/>
      <c:barChart>
        <c:barDir val="bar"/>
        <c:grouping val="clustered"/>
        <c:varyColors val="0"/>
        <c:ser>
          <c:idx val="0"/>
          <c:order val="0"/>
          <c:tx>
            <c:strRef>
              <c:f>Sheet1!$B$1</c:f>
              <c:strCache>
                <c:ptCount val="1"/>
                <c:pt idx="0">
                  <c:v>Portfolio loss</c:v>
                </c:pt>
              </c:strCache>
            </c:strRef>
          </c:tx>
          <c:spPr>
            <a:solidFill>
              <a:srgbClr val="B5384B"/>
            </a:solidFill>
            <a:effectLst/>
          </c:spPr>
          <c:invertIfNegative val="0"/>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Rate shock</c:v>
                  </c:pt>
                  <c:pt idx="1">
                    <c:v>Commodity shock</c:v>
                  </c:pt>
                  <c:pt idx="2">
                    <c:v>Geopolitical</c:v>
                  </c:pt>
                  <c:pt idx="3">
                    <c:v>Credit crunch</c:v>
                  </c:pt>
                  <c:pt idx="4">
                    <c:v>Currency shock</c:v>
                  </c:pt>
                </c:lvl>
              </c:multiLvlStrCache>
            </c:multiLvlStrRef>
          </c:cat>
          <c:val>
            <c:numRef>
              <c:f>Sheet1!$B$2:$B$6</c:f>
              <c:numCache>
                <c:formatCode>General</c:formatCode>
                <c:ptCount val="5"/>
                <c:pt idx="0">
                  <c:v>10.2</c:v>
                </c:pt>
                <c:pt idx="1">
                  <c:v>5.6</c:v>
                </c:pt>
                <c:pt idx="2">
                  <c:v>2.4</c:v>
                </c:pt>
                <c:pt idx="3">
                  <c:v>1.7</c:v>
                </c:pt>
                <c:pt idx="4">
                  <c:v>1.2</c:v>
                </c:pt>
              </c:numCache>
            </c:numRef>
          </c:val>
        </c:ser>
        <c:dLbls>
          <c:numFmt formatCode="0.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9525" cap="flat">
              <a:solidFill>
                <a:srgbClr val="E4E7EB"/>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One line on the idea: risk shows up in text before it shows up in prices, so RiskPulse reads tweets and live news and turns them into structured signals. The three numbers on the right are the headline results: sentiment accuracy raised from 72% to 88% by fine-tuning, 89% event accuracy, and high-impact days moving 3.2x their normal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in my own words: risk shows up in text first. The approach has three steps: read two sources and link each text to the right company, score each text three ways, then act on the scores in two downstream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sources, ingestion with entity linking, the three engine components with their accuracy, the signal files and API, then Module A, Module B and the dashboard. Everything is cached, so the demo runs offline without API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choices the jury may ask about. Key ones: entity linking found a real bug in the source data; FinBERT was fine-tuned on one split and tested on another it never saw; the event classifier is fast enough for 57K texts on a laptop; and the impact score uses only past days, so no look-ahead.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both models beat a naive baseline on data they never saw. Fine-tuning FinBERT on 8,588 labelled tweets raised held-out accuracy from 71.6% to 88.1% and macro-F1 from 0.66 to 0.85. Right: on days the engine scores 7 to 10, stocks moved 3.2x their normal amount the same day, but only 1.2x the next day. Only 49 stock-days scored 7+, so this is strong evidence,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A now edges equal weight after costs, but the edge is tiny. The domain insight: the engine detects market-moving events as they happen, which is what a risk team needs. Module B uses exactly that: a +2% rate shock costs this bond-heavy book 10%, four times a geopolitical shock. The same risk that brought down Silicon Valley Bank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the jury will ask anyway. Each limitation has a concrete next step. Close by thanking the jury and pointing to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94944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971800"/>
            <a:ext cx="658368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949440" cy="1371600"/>
          </a:xfrm>
          <a:prstGeom prst="rect">
            <a:avLst/>
          </a:prstGeom>
          <a:noFill/>
          <a:ln/>
        </p:spPr>
        <p:txBody>
          <a:bodyPr wrap="square" lIns="0" tIns="0" rIns="0" bIns="0" rtlCol="0" anchor="b"/>
          <a:lstStyle/>
          <a:p>
            <a:pPr algn="l" indent="0" marL="0">
              <a:buNone/>
            </a:pPr>
            <a:r>
              <a:rPr lang="en-US" sz="5400" b="1" dirty="0">
                <a:solidFill>
                  <a:schemeClr val="bg1"/>
                </a:solidFill>
              </a:rPr>
              <a:t>RiskPulse</a:t>
            </a:r>
            <a:endParaRPr lang="en-US" sz="5400" dirty="0"/>
          </a:p>
        </p:txBody>
      </p:sp>
      <p:sp>
        <p:nvSpPr>
          <p:cNvPr id="3" name="Text 0"/>
          <p:cNvSpPr/>
          <p:nvPr>
            <p:ph idx="101" type="body" hasCustomPrompt="1"/>
          </p:nvPr>
        </p:nvSpPr>
        <p:spPr>
          <a:xfrm>
            <a:off x="640080" y="2971800"/>
            <a:ext cx="6583680" cy="1097280"/>
          </a:xfrm>
          <a:prstGeom prst="rect">
            <a:avLst/>
          </a:prstGeom>
          <a:noFill/>
          <a:ln/>
        </p:spPr>
        <p:txBody>
          <a:bodyPr wrap="square" lIns="0" tIns="0" rIns="0" bIns="0" rtlCol="0" anchor="t"/>
          <a:lstStyle/>
          <a:p>
            <a:pPr algn="l" indent="0" marL="0">
              <a:buNone/>
            </a:pPr>
            <a:r>
              <a:rPr lang="en-US" sz="2000" dirty="0">
                <a:solidFill>
                  <a:schemeClr val="accent6"/>
                </a:solidFill>
              </a:rPr>
              <a:t>An AI/NLP risk engine that turns news and tweets into structured financial risk signals</a:t>
            </a:r>
            <a:endParaRPr lang="en-US" sz="2000" dirty="0"/>
          </a:p>
        </p:txBody>
      </p:sp>
      <p:sp>
        <p:nvSpPr>
          <p:cNvPr id="4" name="Text 2"/>
          <p:cNvSpPr txBox="1"/>
          <p:nvPr/>
        </p:nvSpPr>
        <p:spPr>
          <a:xfrm>
            <a:off x="640080" y="4937760"/>
            <a:ext cx="5943600" cy="1097280"/>
          </a:xfrm>
          <a:prstGeom prst="rect">
            <a:avLst/>
          </a:prstGeom>
          <a:noFill/>
          <a:ln/>
        </p:spPr>
        <p:txBody>
          <a:bodyPr wrap="square" lIns="0" tIns="0" rIns="0" bIns="0" rtlCol="0" anchor="t"/>
          <a:lstStyle/>
          <a:p>
            <a:pPr indent="0" marL="0">
              <a:buNone/>
            </a:pPr>
            <a:r>
              <a:rPr lang="en-US" sz="1500" b="1" dirty="0">
                <a:solidFill>
                  <a:schemeClr val="accent6"/>
                </a:solidFill>
              </a:rPr>
              <a:t>Avijit Dutta</a:t>
            </a:r>
            <a:endParaRPr lang="en-US" sz="1500" dirty="0"/>
          </a:p>
          <a:p>
            <a:pPr indent="0" marL="0">
              <a:buNone/>
            </a:pPr>
            <a:r>
              <a:rPr lang="en-US" sz="1500" dirty="0">
                <a:solidFill>
                  <a:schemeClr val="accent6"/>
                </a:solidFill>
              </a:rPr>
              <a:t>Vellore Institute of Technology, Vellore</a:t>
            </a:r>
            <a:endParaRPr lang="en-US" sz="1500" dirty="0"/>
          </a:p>
          <a:p>
            <a:pPr indent="0" marL="0">
              <a:buNone/>
            </a:pPr>
            <a:r>
              <a:rPr lang="en-US" sz="1500" dirty="0">
                <a:solidFill>
                  <a:schemeClr val="accent6"/>
                </a:solidFill>
              </a:rPr>
              <a:t>S&amp;P Global &amp; Crisil Campus Hackathon 2026</a:t>
            </a:r>
            <a:endParaRPr lang="en-US" sz="1500" dirty="0"/>
          </a:p>
        </p:txBody>
      </p:sp>
      <p:sp>
        <p:nvSpPr>
          <p:cNvPr id="5" name="square "/>
          <p:cNvSpPr/>
          <p:nvPr/>
        </p:nvSpPr>
        <p:spPr>
          <a:xfrm>
            <a:off x="8138160" y="1371600"/>
            <a:ext cx="384048" cy="384048"/>
          </a:xfrm>
          <a:prstGeom prst="roundRect">
            <a:avLst>
              <a:gd name="adj" fmla="val 19048"/>
            </a:avLst>
          </a:prstGeom>
          <a:solidFill>
            <a:schemeClr val="accent1"/>
          </a:solidFill>
          <a:ln w="12700">
            <a:solidFill>
              <a:schemeClr val="accent1"/>
            </a:solidFill>
            <a:prstDash val="solid"/>
          </a:ln>
        </p:spPr>
      </p:sp>
      <p:sp>
        <p:nvSpPr>
          <p:cNvPr id="6" name="Text 4"/>
          <p:cNvSpPr txBox="1"/>
          <p:nvPr/>
        </p:nvSpPr>
        <p:spPr>
          <a:xfrm>
            <a:off x="8138160" y="1371600"/>
            <a:ext cx="384048" cy="384048"/>
          </a:xfrm>
          <a:prstGeom prst="rect">
            <a:avLst/>
          </a:prstGeom>
          <a:noFill/>
          <a:ln/>
        </p:spPr>
        <p:txBody>
          <a:bodyPr wrap="square" lIns="0" tIns="0" rIns="0" bIns="0" rtlCol="0" anchor="ctr"/>
          <a:lstStyle/>
          <a:p>
            <a:pPr algn="ctr" indent="0" marL="0">
              <a:buNone/>
            </a:pPr>
            <a:endParaRPr lang="en-US" sz="1600" dirty="0"/>
          </a:p>
        </p:txBody>
      </p:sp>
      <p:sp>
        <p:nvSpPr>
          <p:cNvPr id="7" name="Text 5"/>
          <p:cNvSpPr txBox="1"/>
          <p:nvPr/>
        </p:nvSpPr>
        <p:spPr>
          <a:xfrm>
            <a:off x="8732520" y="1261872"/>
            <a:ext cx="2926080" cy="68580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88%</a:t>
            </a:r>
            <a:endParaRPr lang="en-US" sz="3600" dirty="0"/>
          </a:p>
        </p:txBody>
      </p:sp>
      <p:sp>
        <p:nvSpPr>
          <p:cNvPr id="8" name="Text 6"/>
          <p:cNvSpPr txBox="1"/>
          <p:nvPr/>
        </p:nvSpPr>
        <p:spPr>
          <a:xfrm>
            <a:off x="8732520" y="1938528"/>
            <a:ext cx="3017520" cy="457200"/>
          </a:xfrm>
          <a:prstGeom prst="rect">
            <a:avLst/>
          </a:prstGeom>
          <a:noFill/>
          <a:ln/>
        </p:spPr>
        <p:txBody>
          <a:bodyPr wrap="square" lIns="0" tIns="0" rIns="0" bIns="0" rtlCol="0" anchor="t"/>
          <a:lstStyle/>
          <a:p>
            <a:pPr indent="0" marL="0">
              <a:buNone/>
            </a:pPr>
            <a:r>
              <a:rPr lang="en-US" sz="1400" dirty="0">
                <a:solidFill>
                  <a:schemeClr val="accent6"/>
                </a:solidFill>
              </a:rPr>
              <a:t>sentiment accuracy after fine-tuning (from 72%)</a:t>
            </a:r>
            <a:endParaRPr lang="en-US" sz="1400" dirty="0"/>
          </a:p>
        </p:txBody>
      </p:sp>
      <p:sp>
        <p:nvSpPr>
          <p:cNvPr id="9" name="square "/>
          <p:cNvSpPr/>
          <p:nvPr/>
        </p:nvSpPr>
        <p:spPr>
          <a:xfrm>
            <a:off x="8138160" y="2880360"/>
            <a:ext cx="384048" cy="384048"/>
          </a:xfrm>
          <a:prstGeom prst="roundRect">
            <a:avLst>
              <a:gd name="adj" fmla="val 19048"/>
            </a:avLst>
          </a:prstGeom>
          <a:solidFill>
            <a:schemeClr val="accent1"/>
          </a:solidFill>
          <a:ln w="12700">
            <a:solidFill>
              <a:schemeClr val="accent1"/>
            </a:solidFill>
            <a:prstDash val="solid"/>
          </a:ln>
        </p:spPr>
      </p:sp>
      <p:sp>
        <p:nvSpPr>
          <p:cNvPr id="10" name="Text 8"/>
          <p:cNvSpPr txBox="1"/>
          <p:nvPr/>
        </p:nvSpPr>
        <p:spPr>
          <a:xfrm>
            <a:off x="8138160" y="2880360"/>
            <a:ext cx="384048" cy="384048"/>
          </a:xfrm>
          <a:prstGeom prst="rect">
            <a:avLst/>
          </a:prstGeom>
          <a:noFill/>
          <a:ln/>
        </p:spPr>
        <p:txBody>
          <a:bodyPr wrap="square" lIns="0" tIns="0" rIns="0" bIns="0" rtlCol="0" anchor="ctr"/>
          <a:lstStyle/>
          <a:p>
            <a:pPr algn="ctr" indent="0" marL="0">
              <a:buNone/>
            </a:pPr>
            <a:endParaRPr lang="en-US" sz="1600" dirty="0"/>
          </a:p>
        </p:txBody>
      </p:sp>
      <p:sp>
        <p:nvSpPr>
          <p:cNvPr id="11" name="Text 9"/>
          <p:cNvSpPr txBox="1"/>
          <p:nvPr/>
        </p:nvSpPr>
        <p:spPr>
          <a:xfrm>
            <a:off x="8732520" y="2770632"/>
            <a:ext cx="2926080" cy="68580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89%</a:t>
            </a:r>
            <a:endParaRPr lang="en-US" sz="3600" dirty="0"/>
          </a:p>
        </p:txBody>
      </p:sp>
      <p:sp>
        <p:nvSpPr>
          <p:cNvPr id="12" name="Text 10"/>
          <p:cNvSpPr txBox="1"/>
          <p:nvPr/>
        </p:nvSpPr>
        <p:spPr>
          <a:xfrm>
            <a:off x="8732520" y="3447288"/>
            <a:ext cx="3017520" cy="457200"/>
          </a:xfrm>
          <a:prstGeom prst="rect">
            <a:avLst/>
          </a:prstGeom>
          <a:noFill/>
          <a:ln/>
        </p:spPr>
        <p:txBody>
          <a:bodyPr wrap="square" lIns="0" tIns="0" rIns="0" bIns="0" rtlCol="0" anchor="t"/>
          <a:lstStyle/>
          <a:p>
            <a:pPr indent="0" marL="0">
              <a:buNone/>
            </a:pPr>
            <a:r>
              <a:rPr lang="en-US" sz="1400" dirty="0">
                <a:solidFill>
                  <a:schemeClr val="accent6"/>
                </a:solidFill>
              </a:rPr>
              <a:t>event-type accuracy</a:t>
            </a:r>
            <a:endParaRPr lang="en-US" sz="1400" dirty="0"/>
          </a:p>
        </p:txBody>
      </p:sp>
      <p:sp>
        <p:nvSpPr>
          <p:cNvPr id="13" name="square "/>
          <p:cNvSpPr/>
          <p:nvPr/>
        </p:nvSpPr>
        <p:spPr>
          <a:xfrm>
            <a:off x="8138160" y="4389120"/>
            <a:ext cx="384048" cy="384048"/>
          </a:xfrm>
          <a:prstGeom prst="roundRect">
            <a:avLst>
              <a:gd name="adj" fmla="val 19048"/>
            </a:avLst>
          </a:prstGeom>
          <a:solidFill>
            <a:schemeClr val="accent3"/>
          </a:solidFill>
          <a:ln w="12700">
            <a:solidFill>
              <a:schemeClr val="accent3"/>
            </a:solidFill>
            <a:prstDash val="solid"/>
          </a:ln>
        </p:spPr>
      </p:sp>
      <p:sp>
        <p:nvSpPr>
          <p:cNvPr id="14" name="Text 12"/>
          <p:cNvSpPr txBox="1"/>
          <p:nvPr/>
        </p:nvSpPr>
        <p:spPr>
          <a:xfrm>
            <a:off x="8138160" y="4389120"/>
            <a:ext cx="384048" cy="384048"/>
          </a:xfrm>
          <a:prstGeom prst="rect">
            <a:avLst/>
          </a:prstGeom>
          <a:noFill/>
          <a:ln/>
        </p:spPr>
        <p:txBody>
          <a:bodyPr wrap="square" lIns="0" tIns="0" rIns="0" bIns="0" rtlCol="0" anchor="ctr"/>
          <a:lstStyle/>
          <a:p>
            <a:pPr algn="ctr" indent="0" marL="0">
              <a:buNone/>
            </a:pPr>
            <a:endParaRPr lang="en-US" sz="1600" dirty="0"/>
          </a:p>
        </p:txBody>
      </p:sp>
      <p:sp>
        <p:nvSpPr>
          <p:cNvPr id="15" name="Text 13"/>
          <p:cNvSpPr txBox="1"/>
          <p:nvPr/>
        </p:nvSpPr>
        <p:spPr>
          <a:xfrm>
            <a:off x="8732520" y="4279392"/>
            <a:ext cx="2926080" cy="68580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3.2x</a:t>
            </a:r>
            <a:endParaRPr lang="en-US" sz="3600" dirty="0"/>
          </a:p>
        </p:txBody>
      </p:sp>
      <p:sp>
        <p:nvSpPr>
          <p:cNvPr id="16" name="Text 14"/>
          <p:cNvSpPr txBox="1"/>
          <p:nvPr/>
        </p:nvSpPr>
        <p:spPr>
          <a:xfrm>
            <a:off x="8732520" y="4956048"/>
            <a:ext cx="3017520" cy="457200"/>
          </a:xfrm>
          <a:prstGeom prst="rect">
            <a:avLst/>
          </a:prstGeom>
          <a:noFill/>
          <a:ln/>
        </p:spPr>
        <p:txBody>
          <a:bodyPr wrap="square" lIns="0" tIns="0" rIns="0" bIns="0" rtlCol="0" anchor="t"/>
          <a:lstStyle/>
          <a:p>
            <a:pPr indent="0" marL="0">
              <a:buNone/>
            </a:pPr>
            <a:r>
              <a:rPr lang="en-US" sz="1400" dirty="0">
                <a:solidFill>
                  <a:schemeClr val="accent6"/>
                </a:solidFill>
              </a:rPr>
              <a:t>normal price move on high-impact days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Risk appears in text before it appears in prices</a:t>
            </a:r>
            <a:endParaRPr lang="en-US" sz="3200" dirty="0"/>
          </a:p>
        </p:txBody>
      </p:sp>
      <p:sp>
        <p:nvSpPr>
          <p:cNvPr id="3" name="Text 1"/>
          <p:cNvSpPr txBox="1"/>
          <p:nvPr/>
        </p:nvSpPr>
        <p:spPr>
          <a:xfrm>
            <a:off x="548640" y="1325880"/>
            <a:ext cx="11064240" cy="822960"/>
          </a:xfrm>
          <a:prstGeom prst="rect">
            <a:avLst/>
          </a:prstGeom>
          <a:noFill/>
          <a:ln/>
        </p:spPr>
        <p:txBody>
          <a:bodyPr wrap="square" lIns="0" tIns="0" rIns="0" bIns="0" rtlCol="0" anchor="t"/>
          <a:lstStyle/>
          <a:p>
            <a:pPr indent="0" marL="0">
              <a:buNone/>
            </a:pPr>
            <a:r>
              <a:rPr lang="en-US" sz="1700" dirty="0">
                <a:solidFill>
                  <a:schemeClr val="tx2"/>
                </a:solidFill>
              </a:rPr>
              <a:t>A downgrade, a lawsuit, a Fed comment or a sanctions headline is written down before the market fully reacts. Risk teams cannot read thousands of posts an hour, so the early signal is missed.</a:t>
            </a:r>
            <a:endParaRPr lang="en-US" sz="1700" dirty="0"/>
          </a:p>
        </p:txBody>
      </p:sp>
      <p:sp>
        <p:nvSpPr>
          <p:cNvPr id="4" name="step Read"/>
          <p:cNvSpPr/>
          <p:nvPr/>
        </p:nvSpPr>
        <p:spPr>
          <a:xfrm>
            <a:off x="548640" y="2514600"/>
            <a:ext cx="3429000" cy="2926080"/>
          </a:xfrm>
          <a:prstGeom prst="roundRect">
            <a:avLst>
              <a:gd name="adj" fmla="val 3125"/>
            </a:avLst>
          </a:prstGeom>
          <a:solidFill>
            <a:schemeClr val="bg2"/>
          </a:solidFill>
          <a:ln w="12700">
            <a:solidFill>
              <a:schemeClr val="bg2"/>
            </a:solidFill>
            <a:prstDash val="solid"/>
          </a:ln>
        </p:spPr>
      </p:sp>
      <p:sp>
        <p:nvSpPr>
          <p:cNvPr id="5" name="square 1"/>
          <p:cNvSpPr/>
          <p:nvPr/>
        </p:nvSpPr>
        <p:spPr>
          <a:xfrm>
            <a:off x="822960" y="2788920"/>
            <a:ext cx="502920" cy="502920"/>
          </a:xfrm>
          <a:prstGeom prst="roundRect">
            <a:avLst>
              <a:gd name="adj" fmla="val 14545"/>
            </a:avLst>
          </a:prstGeom>
          <a:solidFill>
            <a:schemeClr val="accent4"/>
          </a:solidFill>
          <a:ln w="12700">
            <a:solidFill>
              <a:schemeClr val="accent4"/>
            </a:solidFill>
            <a:prstDash val="solid"/>
          </a:ln>
        </p:spPr>
      </p:sp>
      <p:sp>
        <p:nvSpPr>
          <p:cNvPr id="6" name="Text 4"/>
          <p:cNvSpPr txBox="1"/>
          <p:nvPr/>
        </p:nvSpPr>
        <p:spPr>
          <a:xfrm>
            <a:off x="822960" y="2788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508760" y="283464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Read</a:t>
            </a:r>
            <a:endParaRPr lang="en-US" sz="2400" dirty="0"/>
          </a:p>
        </p:txBody>
      </p:sp>
      <p:sp>
        <p:nvSpPr>
          <p:cNvPr id="8" name="Text 6"/>
          <p:cNvSpPr txBox="1"/>
          <p:nvPr/>
        </p:nvSpPr>
        <p:spPr>
          <a:xfrm>
            <a:off x="822960" y="361188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80,793 stock tweets, replayed in time order</a:t>
            </a:r>
            <a:endParaRPr lang="en-US" sz="1500" dirty="0"/>
          </a:p>
          <a:p>
            <a:pPr marL="342900" indent="-342900">
              <a:spcAft>
                <a:spcPts val="800"/>
              </a:spcAft>
              <a:buSzPct val="100000"/>
              <a:buChar char="•"/>
            </a:pPr>
            <a:r>
              <a:rPr lang="en-US" sz="1500" dirty="0">
                <a:solidFill>
                  <a:schemeClr val="tx1"/>
                </a:solidFill>
              </a:rPr>
              <a:t>Live global news from GDELT</a:t>
            </a:r>
            <a:endParaRPr lang="en-US" sz="1500" dirty="0"/>
          </a:p>
          <a:p>
            <a:pPr marL="342900" indent="-342900">
              <a:spcAft>
                <a:spcPts val="800"/>
              </a:spcAft>
              <a:buSzPct val="100000"/>
              <a:buChar char="•"/>
            </a:pPr>
            <a:r>
              <a:rPr lang="en-US" sz="1500" dirty="0">
                <a:solidFill>
                  <a:schemeClr val="tx1"/>
                </a:solidFill>
              </a:rPr>
              <a:t>Entity linking: a text counts for a company only if it names it</a:t>
            </a:r>
            <a:endParaRPr lang="en-US" sz="1500" dirty="0"/>
          </a:p>
        </p:txBody>
      </p:sp>
      <p:sp>
        <p:nvSpPr>
          <p:cNvPr id="9" name="arrow 0"/>
          <p:cNvSpPr/>
          <p:nvPr/>
        </p:nvSpPr>
        <p:spPr>
          <a:xfrm>
            <a:off x="4078224" y="3813048"/>
            <a:ext cx="164592" cy="329184"/>
          </a:xfrm>
          <a:prstGeom prst="chevron">
            <a:avLst/>
          </a:prstGeom>
          <a:solidFill>
            <a:schemeClr val="accent4"/>
          </a:solidFill>
          <a:ln w="12700">
            <a:solidFill>
              <a:schemeClr val="accent4"/>
            </a:solidFill>
            <a:prstDash val="solid"/>
          </a:ln>
        </p:spPr>
      </p:sp>
      <p:sp>
        <p:nvSpPr>
          <p:cNvPr id="10" name="step Score"/>
          <p:cNvSpPr/>
          <p:nvPr/>
        </p:nvSpPr>
        <p:spPr>
          <a:xfrm>
            <a:off x="4343400" y="2514600"/>
            <a:ext cx="3429000" cy="2926080"/>
          </a:xfrm>
          <a:prstGeom prst="roundRect">
            <a:avLst>
              <a:gd name="adj" fmla="val 3125"/>
            </a:avLst>
          </a:prstGeom>
          <a:solidFill>
            <a:schemeClr val="bg2"/>
          </a:solidFill>
          <a:ln w="12700">
            <a:solidFill>
              <a:schemeClr val="bg2"/>
            </a:solidFill>
            <a:prstDash val="solid"/>
          </a:ln>
        </p:spPr>
      </p:sp>
      <p:sp>
        <p:nvSpPr>
          <p:cNvPr id="11" name="square 2"/>
          <p:cNvSpPr/>
          <p:nvPr/>
        </p:nvSpPr>
        <p:spPr>
          <a:xfrm>
            <a:off x="4617720" y="2788920"/>
            <a:ext cx="502920" cy="502920"/>
          </a:xfrm>
          <a:prstGeom prst="roundRect">
            <a:avLst>
              <a:gd name="adj" fmla="val 14545"/>
            </a:avLst>
          </a:prstGeom>
          <a:solidFill>
            <a:schemeClr val="accent1"/>
          </a:solidFill>
          <a:ln w="12700">
            <a:solidFill>
              <a:schemeClr val="accent1"/>
            </a:solidFill>
            <a:prstDash val="solid"/>
          </a:ln>
        </p:spPr>
      </p:sp>
      <p:sp>
        <p:nvSpPr>
          <p:cNvPr id="12" name="Text 10"/>
          <p:cNvSpPr txBox="1"/>
          <p:nvPr/>
        </p:nvSpPr>
        <p:spPr>
          <a:xfrm>
            <a:off x="4617720" y="2788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303520" y="283464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Score</a:t>
            </a:r>
            <a:endParaRPr lang="en-US" sz="2400" dirty="0"/>
          </a:p>
        </p:txBody>
      </p:sp>
      <p:sp>
        <p:nvSpPr>
          <p:cNvPr id="14" name="Text 12"/>
          <p:cNvSpPr txBox="1"/>
          <p:nvPr/>
        </p:nvSpPr>
        <p:spPr>
          <a:xfrm>
            <a:off x="4617720" y="361188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Sentiment from -1 to +1 (fine-tuned FinBERT)</a:t>
            </a:r>
            <a:endParaRPr lang="en-US" sz="1500" dirty="0"/>
          </a:p>
          <a:p>
            <a:pPr marL="342900" indent="-342900">
              <a:spcAft>
                <a:spcPts val="800"/>
              </a:spcAft>
              <a:buSzPct val="100000"/>
              <a:buChar char="•"/>
            </a:pPr>
            <a:r>
              <a:rPr lang="en-US" sz="1500" dirty="0">
                <a:solidFill>
                  <a:schemeClr val="tx1"/>
                </a:solidFill>
              </a:rPr>
              <a:t>Event type: 9 classes</a:t>
            </a:r>
            <a:endParaRPr lang="en-US" sz="1500" dirty="0"/>
          </a:p>
          <a:p>
            <a:pPr marL="342900" indent="-342900">
              <a:spcAft>
                <a:spcPts val="800"/>
              </a:spcAft>
              <a:buSzPct val="100000"/>
              <a:buChar char="•"/>
            </a:pPr>
            <a:r>
              <a:rPr lang="en-US" sz="1500" dirty="0">
                <a:solidFill>
                  <a:schemeClr val="tx1"/>
                </a:solidFill>
              </a:rPr>
              <a:t>Impact score from 1 to 10</a:t>
            </a:r>
            <a:endParaRPr lang="en-US" sz="1500" dirty="0"/>
          </a:p>
        </p:txBody>
      </p:sp>
      <p:sp>
        <p:nvSpPr>
          <p:cNvPr id="15" name="arrow 1"/>
          <p:cNvSpPr/>
          <p:nvPr/>
        </p:nvSpPr>
        <p:spPr>
          <a:xfrm>
            <a:off x="7872984" y="3813048"/>
            <a:ext cx="164592" cy="329184"/>
          </a:xfrm>
          <a:prstGeom prst="chevron">
            <a:avLst/>
          </a:prstGeom>
          <a:solidFill>
            <a:schemeClr val="accent4"/>
          </a:solidFill>
          <a:ln w="12700">
            <a:solidFill>
              <a:schemeClr val="accent4"/>
            </a:solidFill>
            <a:prstDash val="solid"/>
          </a:ln>
        </p:spPr>
      </p:sp>
      <p:sp>
        <p:nvSpPr>
          <p:cNvPr id="16" name="step Act"/>
          <p:cNvSpPr/>
          <p:nvPr/>
        </p:nvSpPr>
        <p:spPr>
          <a:xfrm>
            <a:off x="8138160" y="2514600"/>
            <a:ext cx="3429000" cy="2926080"/>
          </a:xfrm>
          <a:prstGeom prst="roundRect">
            <a:avLst>
              <a:gd name="adj" fmla="val 3125"/>
            </a:avLst>
          </a:prstGeom>
          <a:solidFill>
            <a:schemeClr val="bg2"/>
          </a:solidFill>
          <a:ln w="12700">
            <a:solidFill>
              <a:schemeClr val="bg2"/>
            </a:solidFill>
            <a:prstDash val="solid"/>
          </a:ln>
        </p:spPr>
      </p:sp>
      <p:sp>
        <p:nvSpPr>
          <p:cNvPr id="17" name="square 3"/>
          <p:cNvSpPr/>
          <p:nvPr/>
        </p:nvSpPr>
        <p:spPr>
          <a:xfrm>
            <a:off x="8412480" y="2788920"/>
            <a:ext cx="502920" cy="502920"/>
          </a:xfrm>
          <a:prstGeom prst="roundRect">
            <a:avLst>
              <a:gd name="adj" fmla="val 14545"/>
            </a:avLst>
          </a:prstGeom>
          <a:solidFill>
            <a:schemeClr val="accent2"/>
          </a:solidFill>
          <a:ln w="12700">
            <a:solidFill>
              <a:schemeClr val="accent2"/>
            </a:solidFill>
            <a:prstDash val="solid"/>
          </a:ln>
        </p:spPr>
      </p:sp>
      <p:sp>
        <p:nvSpPr>
          <p:cNvPr id="18" name="Text 16"/>
          <p:cNvSpPr txBox="1"/>
          <p:nvPr/>
        </p:nvSpPr>
        <p:spPr>
          <a:xfrm>
            <a:off x="8412480" y="2788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9098280" y="283464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Act</a:t>
            </a:r>
            <a:endParaRPr lang="en-US" sz="2400" dirty="0"/>
          </a:p>
        </p:txBody>
      </p:sp>
      <p:sp>
        <p:nvSpPr>
          <p:cNvPr id="20" name="Text 18"/>
          <p:cNvSpPr txBox="1"/>
          <p:nvPr/>
        </p:nvSpPr>
        <p:spPr>
          <a:xfrm>
            <a:off x="8412480" y="361188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Module A: tilt a 15-stock index by sentiment</a:t>
            </a:r>
            <a:endParaRPr lang="en-US" sz="1500" dirty="0"/>
          </a:p>
          <a:p>
            <a:pPr marL="342900" indent="-342900">
              <a:spcAft>
                <a:spcPts val="800"/>
              </a:spcAft>
              <a:buSzPct val="100000"/>
              <a:buChar char="•"/>
            </a:pPr>
            <a:r>
              <a:rPr lang="en-US" sz="1500" dirty="0">
                <a:solidFill>
                  <a:schemeClr val="tx1"/>
                </a:solidFill>
              </a:rPr>
              <a:t>Module B: stress-test a banking book on impact 7+ events</a:t>
            </a:r>
            <a:endParaRPr lang="en-US" sz="1500" dirty="0"/>
          </a:p>
          <a:p>
            <a:pPr marL="342900" indent="-342900">
              <a:spcAft>
                <a:spcPts val="800"/>
              </a:spcAft>
              <a:buSzPct val="100000"/>
              <a:buChar char="•"/>
            </a:pPr>
            <a:r>
              <a:rPr lang="en-US" sz="1500" dirty="0">
                <a:solidFill>
                  <a:schemeClr val="tx1"/>
                </a:solidFill>
              </a:rPr>
              <a:t>Signal API and live dashboard</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System design: one engine, two consumers</a:t>
            </a:r>
            <a:endParaRPr lang="en-US" sz="3200" dirty="0"/>
          </a:p>
        </p:txBody>
      </p:sp>
      <p:pic>
        <p:nvPicPr>
          <p:cNvPr id="3" name="architecture diagram" descr="Architecture: tweets and GDELT news flow through ingestion and entity linking into the NLP Risk Engine (FinBERT sentiment, event classifier, impact score), out to signal files and a FastAPI Signal API, consumed by Module A, Module B and a Streamlit dashboard.">    </p:cNvPr>
          <p:cNvPicPr>
            <a:picLocks noChangeAspect="1"/>
          </p:cNvPicPr>
          <p:nvPr/>
        </p:nvPicPr>
        <p:blipFill>
          <a:blip r:embed="rId1"/>
          <a:stretch>
            <a:fillRect/>
          </a:stretch>
        </p:blipFill>
        <p:spPr>
          <a:xfrm>
            <a:off x="1161288" y="1188720"/>
            <a:ext cx="9875520" cy="5404104"/>
          </a:xfrm>
          <a:prstGeom prst="rect">
            <a:avLst/>
          </a:prstGeom>
        </p:spPr>
      </p:pic>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Implementation choices, and why</a:t>
            </a:r>
            <a:endParaRPr lang="en-US" sz="3200" dirty="0"/>
          </a:p>
        </p:txBody>
      </p:sp>
      <p:sp>
        <p:nvSpPr>
          <p:cNvPr id="3" name="highlight Entity linking"/>
          <p:cNvSpPr/>
          <p:nvPr/>
        </p:nvSpPr>
        <p:spPr>
          <a:xfrm>
            <a:off x="548640" y="1371600"/>
            <a:ext cx="3520440" cy="2194560"/>
          </a:xfrm>
          <a:prstGeom prst="roundRect">
            <a:avLst>
              <a:gd name="adj" fmla="val 4167"/>
            </a:avLst>
          </a:prstGeom>
          <a:solidFill>
            <a:schemeClr val="bg2"/>
          </a:solidFill>
          <a:ln w="12700">
            <a:solidFill>
              <a:schemeClr val="bg2"/>
            </a:solidFill>
            <a:prstDash val="solid"/>
          </a:ln>
        </p:spPr>
      </p:sp>
      <p:sp>
        <p:nvSpPr>
          <p:cNvPr id="4" name="square "/>
          <p:cNvSpPr/>
          <p:nvPr/>
        </p:nvSpPr>
        <p:spPr>
          <a:xfrm>
            <a:off x="822960" y="1645920"/>
            <a:ext cx="292608" cy="292608"/>
          </a:xfrm>
          <a:prstGeom prst="roundRect">
            <a:avLst>
              <a:gd name="adj" fmla="val 25000"/>
            </a:avLst>
          </a:prstGeom>
          <a:solidFill>
            <a:schemeClr val="accent2"/>
          </a:solidFill>
          <a:ln w="12700">
            <a:solidFill>
              <a:schemeClr val="accent2"/>
            </a:solidFill>
            <a:prstDash val="solid"/>
          </a:ln>
        </p:spPr>
      </p:sp>
      <p:sp>
        <p:nvSpPr>
          <p:cNvPr id="5" name="Text 3"/>
          <p:cNvSpPr txBox="1"/>
          <p:nvPr/>
        </p:nvSpPr>
        <p:spPr>
          <a:xfrm>
            <a:off x="822960" y="1645920"/>
            <a:ext cx="292608" cy="292608"/>
          </a:xfrm>
          <a:prstGeom prst="rect">
            <a:avLst/>
          </a:prstGeom>
          <a:noFill/>
          <a:ln/>
        </p:spPr>
        <p:txBody>
          <a:bodyPr wrap="square" lIns="0" tIns="0" rIns="0" bIns="0" rtlCol="0" anchor="ctr"/>
          <a:lstStyle/>
          <a:p>
            <a:pPr algn="ctr" indent="0" marL="0">
              <a:buNone/>
            </a:pPr>
            <a:endParaRPr lang="en-US" sz="1600" dirty="0"/>
          </a:p>
        </p:txBody>
      </p:sp>
      <p:sp>
        <p:nvSpPr>
          <p:cNvPr id="6" name="Text 4"/>
          <p:cNvSpPr txBox="1"/>
          <p:nvPr/>
        </p:nvSpPr>
        <p:spPr>
          <a:xfrm>
            <a:off x="1280160" y="159105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Entity linking</a:t>
            </a:r>
            <a:endParaRPr lang="en-US" sz="1900" dirty="0"/>
          </a:p>
        </p:txBody>
      </p:sp>
      <p:sp>
        <p:nvSpPr>
          <p:cNvPr id="7" name="Text 5"/>
          <p:cNvSpPr txBox="1"/>
          <p:nvPr/>
        </p:nvSpPr>
        <p:spPr>
          <a:xfrm>
            <a:off x="822960" y="2194560"/>
            <a:ext cx="3017520" cy="1280160"/>
          </a:xfrm>
          <a:prstGeom prst="rect">
            <a:avLst/>
          </a:prstGeom>
          <a:noFill/>
          <a:ln/>
        </p:spPr>
        <p:txBody>
          <a:bodyPr wrap="square" lIns="0" tIns="0" rIns="0" bIns="0" rtlCol="0" anchor="t"/>
          <a:lstStyle/>
          <a:p>
            <a:pPr indent="0" marL="0">
              <a:buNone/>
            </a:pPr>
            <a:r>
              <a:rPr lang="en-US" sz="1400" dirty="0">
                <a:solidFill>
                  <a:schemeClr val="tx2"/>
                </a:solidFill>
              </a:rPr>
              <a:t>A name, alias or cashtag must appear. It caught a data bug: 4,080 tweets copied under three companies.</a:t>
            </a:r>
            <a:endParaRPr lang="en-US" sz="1400" dirty="0"/>
          </a:p>
        </p:txBody>
      </p:sp>
      <p:sp>
        <p:nvSpPr>
          <p:cNvPr id="8" name="highlight Fine-tuned FinBERT"/>
          <p:cNvSpPr/>
          <p:nvPr/>
        </p:nvSpPr>
        <p:spPr>
          <a:xfrm>
            <a:off x="4343400" y="1371600"/>
            <a:ext cx="3520440" cy="2194560"/>
          </a:xfrm>
          <a:prstGeom prst="roundRect">
            <a:avLst>
              <a:gd name="adj" fmla="val 4167"/>
            </a:avLst>
          </a:prstGeom>
          <a:solidFill>
            <a:schemeClr val="bg2"/>
          </a:solidFill>
          <a:ln w="12700">
            <a:solidFill>
              <a:schemeClr val="bg2"/>
            </a:solidFill>
            <a:prstDash val="solid"/>
          </a:ln>
        </p:spPr>
      </p:sp>
      <p:sp>
        <p:nvSpPr>
          <p:cNvPr id="9" name="square "/>
          <p:cNvSpPr/>
          <p:nvPr/>
        </p:nvSpPr>
        <p:spPr>
          <a:xfrm>
            <a:off x="4617720" y="1645920"/>
            <a:ext cx="292608" cy="292608"/>
          </a:xfrm>
          <a:prstGeom prst="roundRect">
            <a:avLst>
              <a:gd name="adj" fmla="val 25000"/>
            </a:avLst>
          </a:prstGeom>
          <a:solidFill>
            <a:schemeClr val="accent1"/>
          </a:solidFill>
          <a:ln w="12700">
            <a:solidFill>
              <a:schemeClr val="accent1"/>
            </a:solidFill>
            <a:prstDash val="solid"/>
          </a:ln>
        </p:spPr>
      </p:sp>
      <p:sp>
        <p:nvSpPr>
          <p:cNvPr id="10" name="Text 8"/>
          <p:cNvSpPr txBox="1"/>
          <p:nvPr/>
        </p:nvSpPr>
        <p:spPr>
          <a:xfrm>
            <a:off x="4617720" y="1645920"/>
            <a:ext cx="292608" cy="292608"/>
          </a:xfrm>
          <a:prstGeom prst="rect">
            <a:avLst/>
          </a:prstGeom>
          <a:noFill/>
          <a:ln/>
        </p:spPr>
        <p:txBody>
          <a:bodyPr wrap="square" lIns="0" tIns="0" rIns="0" bIns="0" rtlCol="0" anchor="ctr"/>
          <a:lstStyle/>
          <a:p>
            <a:pPr algn="ctr" indent="0" marL="0">
              <a:buNone/>
            </a:pPr>
            <a:endParaRPr lang="en-US" sz="1600" dirty="0"/>
          </a:p>
        </p:txBody>
      </p:sp>
      <p:sp>
        <p:nvSpPr>
          <p:cNvPr id="11" name="Text 9"/>
          <p:cNvSpPr txBox="1"/>
          <p:nvPr/>
        </p:nvSpPr>
        <p:spPr>
          <a:xfrm>
            <a:off x="5074920" y="159105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Fine-tuned FinBERT</a:t>
            </a:r>
            <a:endParaRPr lang="en-US" sz="1900" dirty="0"/>
          </a:p>
        </p:txBody>
      </p:sp>
      <p:sp>
        <p:nvSpPr>
          <p:cNvPr id="12" name="Text 10"/>
          <p:cNvSpPr txBox="1"/>
          <p:nvPr/>
        </p:nvSpPr>
        <p:spPr>
          <a:xfrm>
            <a:off x="4617720" y="2194560"/>
            <a:ext cx="3017520" cy="1280160"/>
          </a:xfrm>
          <a:prstGeom prst="rect">
            <a:avLst/>
          </a:prstGeom>
          <a:noFill/>
          <a:ln/>
        </p:spPr>
        <p:txBody>
          <a:bodyPr wrap="square" lIns="0" tIns="0" rIns="0" bIns="0" rtlCol="0" anchor="t"/>
          <a:lstStyle/>
          <a:p>
            <a:pPr indent="0" marL="0">
              <a:buNone/>
            </a:pPr>
            <a:r>
              <a:rPr lang="en-US" sz="1400" dirty="0">
                <a:solidFill>
                  <a:schemeClr val="tx2"/>
                </a:solidFill>
              </a:rPr>
              <a:t>Fine-tuned on 8,588 finance tweets on a free Kaggle GPU. Held-out accuracy rose from 71.6% to 88.1%.</a:t>
            </a:r>
            <a:endParaRPr lang="en-US" sz="1400" dirty="0"/>
          </a:p>
        </p:txBody>
      </p:sp>
      <p:sp>
        <p:nvSpPr>
          <p:cNvPr id="13" name="highlight Event classifier"/>
          <p:cNvSpPr/>
          <p:nvPr/>
        </p:nvSpPr>
        <p:spPr>
          <a:xfrm>
            <a:off x="8138160" y="1371600"/>
            <a:ext cx="3520440" cy="2194560"/>
          </a:xfrm>
          <a:prstGeom prst="roundRect">
            <a:avLst>
              <a:gd name="adj" fmla="val 4167"/>
            </a:avLst>
          </a:prstGeom>
          <a:solidFill>
            <a:schemeClr val="bg2"/>
          </a:solidFill>
          <a:ln w="12700">
            <a:solidFill>
              <a:schemeClr val="bg2"/>
            </a:solidFill>
            <a:prstDash val="solid"/>
          </a:ln>
        </p:spPr>
      </p:sp>
      <p:sp>
        <p:nvSpPr>
          <p:cNvPr id="14" name="square "/>
          <p:cNvSpPr/>
          <p:nvPr/>
        </p:nvSpPr>
        <p:spPr>
          <a:xfrm>
            <a:off x="8412480" y="1645920"/>
            <a:ext cx="292608" cy="292608"/>
          </a:xfrm>
          <a:prstGeom prst="roundRect">
            <a:avLst>
              <a:gd name="adj" fmla="val 25000"/>
            </a:avLst>
          </a:prstGeom>
          <a:solidFill>
            <a:schemeClr val="accent1"/>
          </a:solidFill>
          <a:ln w="12700">
            <a:solidFill>
              <a:schemeClr val="accent1"/>
            </a:solidFill>
            <a:prstDash val="solid"/>
          </a:ln>
        </p:spPr>
      </p:sp>
      <p:sp>
        <p:nvSpPr>
          <p:cNvPr id="15" name="Text 13"/>
          <p:cNvSpPr txBox="1"/>
          <p:nvPr/>
        </p:nvSpPr>
        <p:spPr>
          <a:xfrm>
            <a:off x="8412480" y="1645920"/>
            <a:ext cx="292608" cy="292608"/>
          </a:xfrm>
          <a:prstGeom prst="rect">
            <a:avLst/>
          </a:prstGeom>
          <a:noFill/>
          <a:ln/>
        </p:spPr>
        <p:txBody>
          <a:bodyPr wrap="square" lIns="0" tIns="0" rIns="0" bIns="0" rtlCol="0" anchor="ctr"/>
          <a:lstStyle/>
          <a:p>
            <a:pPr algn="ctr" indent="0" marL="0">
              <a:buNone/>
            </a:pPr>
            <a:endParaRPr lang="en-US" sz="1600" dirty="0"/>
          </a:p>
        </p:txBody>
      </p:sp>
      <p:sp>
        <p:nvSpPr>
          <p:cNvPr id="16" name="Text 14"/>
          <p:cNvSpPr txBox="1"/>
          <p:nvPr/>
        </p:nvSpPr>
        <p:spPr>
          <a:xfrm>
            <a:off x="8869680" y="159105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Event classifier</a:t>
            </a:r>
            <a:endParaRPr lang="en-US" sz="1900" dirty="0"/>
          </a:p>
        </p:txBody>
      </p:sp>
      <p:sp>
        <p:nvSpPr>
          <p:cNvPr id="17" name="Text 15"/>
          <p:cNvSpPr txBox="1"/>
          <p:nvPr/>
        </p:nvSpPr>
        <p:spPr>
          <a:xfrm>
            <a:off x="8412480" y="2194560"/>
            <a:ext cx="3017520" cy="1280160"/>
          </a:xfrm>
          <a:prstGeom prst="rect">
            <a:avLst/>
          </a:prstGeom>
          <a:noFill/>
          <a:ln/>
        </p:spPr>
        <p:txBody>
          <a:bodyPr wrap="square" lIns="0" tIns="0" rIns="0" bIns="0" rtlCol="0" anchor="t"/>
          <a:lstStyle/>
          <a:p>
            <a:pPr indent="0" marL="0">
              <a:buNone/>
            </a:pPr>
            <a:r>
              <a:rPr lang="en-US" sz="1400" dirty="0">
                <a:solidFill>
                  <a:schemeClr val="tx2"/>
                </a:solidFill>
              </a:rPr>
              <a:t>TF-IDF + logistic regression: trains in a minute and labels 57K texts in seconds on a CPU. Zero-shot would take hours.</a:t>
            </a:r>
            <a:endParaRPr lang="en-US" sz="1400" dirty="0"/>
          </a:p>
        </p:txBody>
      </p:sp>
      <p:sp>
        <p:nvSpPr>
          <p:cNvPr id="18" name="highlight Impact score"/>
          <p:cNvSpPr/>
          <p:nvPr/>
        </p:nvSpPr>
        <p:spPr>
          <a:xfrm>
            <a:off x="548640" y="3840480"/>
            <a:ext cx="3520440" cy="2194560"/>
          </a:xfrm>
          <a:prstGeom prst="roundRect">
            <a:avLst>
              <a:gd name="adj" fmla="val 4167"/>
            </a:avLst>
          </a:prstGeom>
          <a:solidFill>
            <a:schemeClr val="bg2"/>
          </a:solidFill>
          <a:ln w="12700">
            <a:solidFill>
              <a:schemeClr val="bg2"/>
            </a:solidFill>
            <a:prstDash val="solid"/>
          </a:ln>
        </p:spPr>
      </p:sp>
      <p:sp>
        <p:nvSpPr>
          <p:cNvPr id="19" name="square "/>
          <p:cNvSpPr/>
          <p:nvPr/>
        </p:nvSpPr>
        <p:spPr>
          <a:xfrm>
            <a:off x="822960" y="4114800"/>
            <a:ext cx="292608" cy="292608"/>
          </a:xfrm>
          <a:prstGeom prst="roundRect">
            <a:avLst>
              <a:gd name="adj" fmla="val 25000"/>
            </a:avLst>
          </a:prstGeom>
          <a:solidFill>
            <a:schemeClr val="accent3"/>
          </a:solidFill>
          <a:ln w="12700">
            <a:solidFill>
              <a:schemeClr val="accent3"/>
            </a:solidFill>
            <a:prstDash val="solid"/>
          </a:ln>
        </p:spPr>
      </p:sp>
      <p:sp>
        <p:nvSpPr>
          <p:cNvPr id="20" name="Text 18"/>
          <p:cNvSpPr txBox="1"/>
          <p:nvPr/>
        </p:nvSpPr>
        <p:spPr>
          <a:xfrm>
            <a:off x="822960" y="4114800"/>
            <a:ext cx="292608" cy="292608"/>
          </a:xfrm>
          <a:prstGeom prst="rect">
            <a:avLst/>
          </a:prstGeom>
          <a:noFill/>
          <a:ln/>
        </p:spPr>
        <p:txBody>
          <a:bodyPr wrap="square" lIns="0" tIns="0" rIns="0" bIns="0" rtlCol="0" anchor="ctr"/>
          <a:lstStyle/>
          <a:p>
            <a:pPr algn="ctr" indent="0" marL="0">
              <a:buNone/>
            </a:pPr>
            <a:endParaRPr lang="en-US" sz="1600" dirty="0"/>
          </a:p>
        </p:txBody>
      </p:sp>
      <p:sp>
        <p:nvSpPr>
          <p:cNvPr id="21" name="Text 19"/>
          <p:cNvSpPr txBox="1"/>
          <p:nvPr/>
        </p:nvSpPr>
        <p:spPr>
          <a:xfrm>
            <a:off x="1280160" y="405993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Impact score</a:t>
            </a:r>
            <a:endParaRPr lang="en-US" sz="1900" dirty="0"/>
          </a:p>
        </p:txBody>
      </p:sp>
      <p:sp>
        <p:nvSpPr>
          <p:cNvPr id="22" name="Text 20"/>
          <p:cNvSpPr txBox="1"/>
          <p:nvPr/>
        </p:nvSpPr>
        <p:spPr>
          <a:xfrm>
            <a:off x="822960" y="4663440"/>
            <a:ext cx="3017520" cy="1280160"/>
          </a:xfrm>
          <a:prstGeom prst="rect">
            <a:avLst/>
          </a:prstGeom>
          <a:noFill/>
          <a:ln/>
        </p:spPr>
        <p:txBody>
          <a:bodyPr wrap="square" lIns="0" tIns="0" rIns="0" bIns="0" rtlCol="0" anchor="t"/>
          <a:lstStyle/>
          <a:p>
            <a:pPr indent="0" marL="0">
              <a:buNone/>
            </a:pPr>
            <a:r>
              <a:rPr lang="en-US" sz="1400" dirty="0">
                <a:solidFill>
                  <a:schemeClr val="tx2"/>
                </a:solidFill>
              </a:rPr>
              <a:t>Event severity x confidence x sentiment strength x abnormal attention, using past days only (no look-ahead).</a:t>
            </a:r>
            <a:endParaRPr lang="en-US" sz="1400" dirty="0"/>
          </a:p>
        </p:txBody>
      </p:sp>
      <p:sp>
        <p:nvSpPr>
          <p:cNvPr id="23" name="highlight Signal API"/>
          <p:cNvSpPr/>
          <p:nvPr/>
        </p:nvSpPr>
        <p:spPr>
          <a:xfrm>
            <a:off x="4343400" y="3840480"/>
            <a:ext cx="3520440" cy="2194560"/>
          </a:xfrm>
          <a:prstGeom prst="roundRect">
            <a:avLst>
              <a:gd name="adj" fmla="val 4167"/>
            </a:avLst>
          </a:prstGeom>
          <a:solidFill>
            <a:schemeClr val="bg2"/>
          </a:solidFill>
          <a:ln w="12700">
            <a:solidFill>
              <a:schemeClr val="bg2"/>
            </a:solidFill>
            <a:prstDash val="solid"/>
          </a:ln>
        </p:spPr>
      </p:sp>
      <p:sp>
        <p:nvSpPr>
          <p:cNvPr id="24" name="square "/>
          <p:cNvSpPr/>
          <p:nvPr/>
        </p:nvSpPr>
        <p:spPr>
          <a:xfrm>
            <a:off x="4617720" y="4114800"/>
            <a:ext cx="292608" cy="292608"/>
          </a:xfrm>
          <a:prstGeom prst="roundRect">
            <a:avLst>
              <a:gd name="adj" fmla="val 25000"/>
            </a:avLst>
          </a:prstGeom>
          <a:solidFill>
            <a:schemeClr val="accent4"/>
          </a:solidFill>
          <a:ln w="12700">
            <a:solidFill>
              <a:schemeClr val="accent4"/>
            </a:solidFill>
            <a:prstDash val="solid"/>
          </a:ln>
        </p:spPr>
      </p:sp>
      <p:sp>
        <p:nvSpPr>
          <p:cNvPr id="25" name="Text 23"/>
          <p:cNvSpPr txBox="1"/>
          <p:nvPr/>
        </p:nvSpPr>
        <p:spPr>
          <a:xfrm>
            <a:off x="4617720" y="4114800"/>
            <a:ext cx="292608" cy="292608"/>
          </a:xfrm>
          <a:prstGeom prst="rect">
            <a:avLst/>
          </a:prstGeom>
          <a:noFill/>
          <a:ln/>
        </p:spPr>
        <p:txBody>
          <a:bodyPr wrap="square" lIns="0" tIns="0" rIns="0" bIns="0" rtlCol="0" anchor="ctr"/>
          <a:lstStyle/>
          <a:p>
            <a:pPr algn="ctr" indent="0" marL="0">
              <a:buNone/>
            </a:pPr>
            <a:endParaRPr lang="en-US" sz="1600" dirty="0"/>
          </a:p>
        </p:txBody>
      </p:sp>
      <p:sp>
        <p:nvSpPr>
          <p:cNvPr id="26" name="Text 24"/>
          <p:cNvSpPr txBox="1"/>
          <p:nvPr/>
        </p:nvSpPr>
        <p:spPr>
          <a:xfrm>
            <a:off x="5074920" y="405993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Signal API</a:t>
            </a:r>
            <a:endParaRPr lang="en-US" sz="1900" dirty="0"/>
          </a:p>
        </p:txBody>
      </p:sp>
      <p:sp>
        <p:nvSpPr>
          <p:cNvPr id="27" name="Text 25"/>
          <p:cNvSpPr txBox="1"/>
          <p:nvPr/>
        </p:nvSpPr>
        <p:spPr>
          <a:xfrm>
            <a:off x="4617720" y="4663440"/>
            <a:ext cx="3017520" cy="1280160"/>
          </a:xfrm>
          <a:prstGeom prst="rect">
            <a:avLst/>
          </a:prstGeom>
          <a:noFill/>
          <a:ln/>
        </p:spPr>
        <p:txBody>
          <a:bodyPr wrap="square" lIns="0" tIns="0" rIns="0" bIns="0" rtlCol="0" anchor="t"/>
          <a:lstStyle/>
          <a:p>
            <a:pPr indent="0" marL="0">
              <a:buNone/>
            </a:pPr>
            <a:r>
              <a:rPr lang="en-US" sz="1400" dirty="0">
                <a:solidFill>
                  <a:schemeClr val="tx2"/>
                </a:solidFill>
              </a:rPr>
              <a:t>FastAPI endpoints: Module A subscribes to /daily, Module B to /signals/high-impact.</a:t>
            </a:r>
            <a:endParaRPr lang="en-US" sz="1400" dirty="0"/>
          </a:p>
        </p:txBody>
      </p:sp>
      <p:sp>
        <p:nvSpPr>
          <p:cNvPr id="28" name="highlight Honest backtests"/>
          <p:cNvSpPr/>
          <p:nvPr/>
        </p:nvSpPr>
        <p:spPr>
          <a:xfrm>
            <a:off x="8138160" y="3840480"/>
            <a:ext cx="3520440" cy="2194560"/>
          </a:xfrm>
          <a:prstGeom prst="roundRect">
            <a:avLst>
              <a:gd name="adj" fmla="val 4167"/>
            </a:avLst>
          </a:prstGeom>
          <a:solidFill>
            <a:schemeClr val="bg2"/>
          </a:solidFill>
          <a:ln w="12700">
            <a:solidFill>
              <a:schemeClr val="bg2"/>
            </a:solidFill>
            <a:prstDash val="solid"/>
          </a:ln>
        </p:spPr>
      </p:sp>
      <p:sp>
        <p:nvSpPr>
          <p:cNvPr id="29" name="square "/>
          <p:cNvSpPr/>
          <p:nvPr/>
        </p:nvSpPr>
        <p:spPr>
          <a:xfrm>
            <a:off x="8412480" y="4114800"/>
            <a:ext cx="292608" cy="292608"/>
          </a:xfrm>
          <a:prstGeom prst="roundRect">
            <a:avLst>
              <a:gd name="adj" fmla="val 25000"/>
            </a:avLst>
          </a:prstGeom>
          <a:solidFill>
            <a:schemeClr val="accent4"/>
          </a:solidFill>
          <a:ln w="12700">
            <a:solidFill>
              <a:schemeClr val="accent4"/>
            </a:solidFill>
            <a:prstDash val="solid"/>
          </a:ln>
        </p:spPr>
      </p:sp>
      <p:sp>
        <p:nvSpPr>
          <p:cNvPr id="30" name="Text 28"/>
          <p:cNvSpPr txBox="1"/>
          <p:nvPr/>
        </p:nvSpPr>
        <p:spPr>
          <a:xfrm>
            <a:off x="8412480" y="4114800"/>
            <a:ext cx="292608" cy="292608"/>
          </a:xfrm>
          <a:prstGeom prst="rect">
            <a:avLst/>
          </a:prstGeom>
          <a:noFill/>
          <a:ln/>
        </p:spPr>
        <p:txBody>
          <a:bodyPr wrap="square" lIns="0" tIns="0" rIns="0" bIns="0" rtlCol="0" anchor="ctr"/>
          <a:lstStyle/>
          <a:p>
            <a:pPr algn="ctr" indent="0" marL="0">
              <a:buNone/>
            </a:pPr>
            <a:endParaRPr lang="en-US" sz="1600" dirty="0"/>
          </a:p>
        </p:txBody>
      </p:sp>
      <p:sp>
        <p:nvSpPr>
          <p:cNvPr id="31" name="Text 29"/>
          <p:cNvSpPr txBox="1"/>
          <p:nvPr/>
        </p:nvSpPr>
        <p:spPr>
          <a:xfrm>
            <a:off x="8869680" y="4059936"/>
            <a:ext cx="26517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Honest backtests</a:t>
            </a:r>
            <a:endParaRPr lang="en-US" sz="1900" dirty="0"/>
          </a:p>
        </p:txBody>
      </p:sp>
      <p:sp>
        <p:nvSpPr>
          <p:cNvPr id="32" name="Text 30"/>
          <p:cNvSpPr txBox="1"/>
          <p:nvPr/>
        </p:nvSpPr>
        <p:spPr>
          <a:xfrm>
            <a:off x="8412480" y="4663440"/>
            <a:ext cx="3017520" cy="1280160"/>
          </a:xfrm>
          <a:prstGeom prst="rect">
            <a:avLst/>
          </a:prstGeom>
          <a:noFill/>
          <a:ln/>
        </p:spPr>
        <p:txBody>
          <a:bodyPr wrap="square" lIns="0" tIns="0" rIns="0" bIns="0" rtlCol="0" anchor="t"/>
          <a:lstStyle/>
          <a:p>
            <a:pPr indent="0" marL="0">
              <a:buNone/>
            </a:pPr>
            <a:r>
              <a:rPr lang="en-US" sz="1400" dirty="0">
                <a:solidFill>
                  <a:schemeClr val="tx2"/>
                </a:solidFill>
              </a:rPr>
              <a:t>Equal-weight benchmark, 10 bps trading costs, and a 9-setting robustness grid.</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Every component beats its naive baseline on unseen data</a:t>
            </a:r>
            <a:endParaRPr lang="en-US" sz="3200" dirty="0"/>
          </a:p>
        </p:txBody>
      </p:sp>
      <p:graphicFrame>
        <p:nvGraphicFramePr>
          <p:cNvPr id="3" name="accuracy chart" descr=""/>
          <p:cNvGraphicFramePr/>
          <p:nvPr/>
        </p:nvGraphicFramePr>
        <p:xfrm>
          <a:off x="548640" y="132588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impact chart" descr=""/>
          <p:cNvGraphicFramePr/>
          <p:nvPr/>
        </p:nvGraphicFramePr>
        <p:xfrm>
          <a:off x="6309360" y="1325880"/>
          <a:ext cx="5349240" cy="39319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1400" b="1" dirty="0">
                <a:solidFill>
                  <a:schemeClr val="tx2"/>
                </a:solidFill>
              </a:rPr>
              <a:t>Fine-tuning lifted sentiment from 71.6% (original FinBERT) to 88.1%. </a:t>
            </a:r>
            <a:pPr indent="0" marL="0">
              <a:buNone/>
            </a:pPr>
            <a:r>
              <a:rPr lang="en-US" sz="1400" dirty="0">
                <a:solidFill>
                  <a:schemeClr val="tx2"/>
                </a:solidFill>
              </a:rPr>
              <a:t>Macro-F1: sentiment 0.85 (original 0.66, naive 0.26), events 0.87. 56,931 signals; the impact score ranks price moves better than tweet volume alone (0.078 vs 0.059).</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A real-time risk monitor, not a trading signal</a:t>
            </a:r>
            <a:endParaRPr lang="en-US" sz="3200" dirty="0"/>
          </a:p>
        </p:txBody>
      </p:sp>
      <p:sp>
        <p:nvSpPr>
          <p:cNvPr id="3" name="module A card"/>
          <p:cNvSpPr/>
          <p:nvPr/>
        </p:nvSpPr>
        <p:spPr>
          <a:xfrm>
            <a:off x="548640" y="1325880"/>
            <a:ext cx="5120640" cy="2240280"/>
          </a:xfrm>
          <a:prstGeom prst="roundRect">
            <a:avLst>
              <a:gd name="adj" fmla="val 4082"/>
            </a:avLst>
          </a:prstGeom>
          <a:solidFill>
            <a:schemeClr val="bg2"/>
          </a:solidFill>
          <a:ln w="12700">
            <a:solidFill>
              <a:schemeClr val="bg2"/>
            </a:solidFill>
            <a:prstDash val="solid"/>
          </a:ln>
        </p:spPr>
      </p:sp>
      <p:sp>
        <p:nvSpPr>
          <p:cNvPr id="4" name="square A"/>
          <p:cNvSpPr/>
          <p:nvPr/>
        </p:nvSpPr>
        <p:spPr>
          <a:xfrm>
            <a:off x="822960" y="1600200"/>
            <a:ext cx="384048" cy="384048"/>
          </a:xfrm>
          <a:prstGeom prst="roundRect">
            <a:avLst>
              <a:gd name="adj" fmla="val 19048"/>
            </a:avLst>
          </a:prstGeom>
          <a:solidFill>
            <a:schemeClr val="accent4"/>
          </a:solidFill>
          <a:ln w="12700">
            <a:solidFill>
              <a:schemeClr val="accent4"/>
            </a:solidFill>
            <a:prstDash val="solid"/>
          </a:ln>
        </p:spPr>
      </p:sp>
      <p:sp>
        <p:nvSpPr>
          <p:cNvPr id="5" name="Text 3"/>
          <p:cNvSpPr txBox="1"/>
          <p:nvPr/>
        </p:nvSpPr>
        <p:spPr>
          <a:xfrm>
            <a:off x="822960"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A</a:t>
            </a:r>
            <a:endParaRPr lang="en-US" sz="1600" dirty="0"/>
          </a:p>
        </p:txBody>
      </p:sp>
      <p:sp>
        <p:nvSpPr>
          <p:cNvPr id="6" name="Text 4"/>
          <p:cNvSpPr txBox="1"/>
          <p:nvPr/>
        </p:nvSpPr>
        <p:spPr>
          <a:xfrm>
            <a:off x="1371600" y="1627632"/>
            <a:ext cx="411480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Module A: sentiment-tilted index</a:t>
            </a:r>
            <a:endParaRPr lang="en-US" sz="1800" dirty="0"/>
          </a:p>
        </p:txBody>
      </p:sp>
      <p:sp>
        <p:nvSpPr>
          <p:cNvPr id="7" name="Text 5"/>
          <p:cNvSpPr txBox="1"/>
          <p:nvPr/>
        </p:nvSpPr>
        <p:spPr>
          <a:xfrm>
            <a:off x="822960" y="2194560"/>
            <a:ext cx="4572000" cy="1280160"/>
          </a:xfrm>
          <a:prstGeom prst="rect">
            <a:avLst/>
          </a:prstGeom>
          <a:noFill/>
          <a:ln/>
        </p:spPr>
        <p:txBody>
          <a:bodyPr wrap="square" lIns="0" tIns="0" rIns="0" bIns="0" rtlCol="0" anchor="t"/>
          <a:lstStyle/>
          <a:p>
            <a:pPr indent="0" marL="0">
              <a:buNone/>
            </a:pPr>
            <a:r>
              <a:rPr lang="en-US" sz="1400" dirty="0">
                <a:solidFill>
                  <a:schemeClr val="tx2"/>
                </a:solidFill>
              </a:rPr>
              <a:t>After fine-tuning, it edged equal weight by +0.14% a year after 10 bps costs (6 of 9 settings positive), but that is too small to trade on: tweets mostly react to moves that already happened.</a:t>
            </a:r>
            <a:endParaRPr lang="en-US" sz="1400" dirty="0"/>
          </a:p>
        </p:txBody>
      </p:sp>
      <p:sp>
        <p:nvSpPr>
          <p:cNvPr id="8" name="module B card"/>
          <p:cNvSpPr/>
          <p:nvPr/>
        </p:nvSpPr>
        <p:spPr>
          <a:xfrm>
            <a:off x="548640" y="3794760"/>
            <a:ext cx="5120640" cy="2468880"/>
          </a:xfrm>
          <a:prstGeom prst="roundRect">
            <a:avLst>
              <a:gd name="adj" fmla="val 3704"/>
            </a:avLst>
          </a:prstGeom>
          <a:solidFill>
            <a:schemeClr val="bg2"/>
          </a:solidFill>
          <a:ln w="12700">
            <a:solidFill>
              <a:schemeClr val="bg2"/>
            </a:solidFill>
            <a:prstDash val="solid"/>
          </a:ln>
        </p:spPr>
      </p:sp>
      <p:sp>
        <p:nvSpPr>
          <p:cNvPr id="9" name="square B"/>
          <p:cNvSpPr/>
          <p:nvPr/>
        </p:nvSpPr>
        <p:spPr>
          <a:xfrm>
            <a:off x="822960" y="4069080"/>
            <a:ext cx="384048" cy="384048"/>
          </a:xfrm>
          <a:prstGeom prst="roundRect">
            <a:avLst>
              <a:gd name="adj" fmla="val 19048"/>
            </a:avLst>
          </a:prstGeom>
          <a:solidFill>
            <a:schemeClr val="accent2"/>
          </a:solidFill>
          <a:ln w="12700">
            <a:solidFill>
              <a:schemeClr val="accent2"/>
            </a:solidFill>
            <a:prstDash val="solid"/>
          </a:ln>
        </p:spPr>
      </p:sp>
      <p:sp>
        <p:nvSpPr>
          <p:cNvPr id="10" name="Text 8"/>
          <p:cNvSpPr txBox="1"/>
          <p:nvPr/>
        </p:nvSpPr>
        <p:spPr>
          <a:xfrm>
            <a:off x="822960" y="40690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B</a:t>
            </a:r>
            <a:endParaRPr lang="en-US" sz="1600" dirty="0"/>
          </a:p>
        </p:txBody>
      </p:sp>
      <p:sp>
        <p:nvSpPr>
          <p:cNvPr id="11" name="Text 9"/>
          <p:cNvSpPr txBox="1"/>
          <p:nvPr/>
        </p:nvSpPr>
        <p:spPr>
          <a:xfrm>
            <a:off x="1371600" y="4096512"/>
            <a:ext cx="411480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Module B: event-driven stress tests</a:t>
            </a:r>
            <a:endParaRPr lang="en-US" sz="1800" dirty="0"/>
          </a:p>
        </p:txBody>
      </p:sp>
      <p:sp>
        <p:nvSpPr>
          <p:cNvPr id="12" name="Text 10"/>
          <p:cNvSpPr txBox="1"/>
          <p:nvPr/>
        </p:nvSpPr>
        <p:spPr>
          <a:xfrm>
            <a:off x="822960" y="4663440"/>
            <a:ext cx="4572000" cy="1463040"/>
          </a:xfrm>
          <a:prstGeom prst="rect">
            <a:avLst/>
          </a:prstGeom>
          <a:noFill/>
          <a:ln/>
        </p:spPr>
        <p:txBody>
          <a:bodyPr wrap="square" lIns="0" tIns="0" rIns="0" bIns="0" rtlCol="0" anchor="t"/>
          <a:lstStyle/>
          <a:p>
            <a:pPr indent="0" marL="0">
              <a:buNone/>
            </a:pPr>
            <a:r>
              <a:rPr lang="en-US" sz="1400" dirty="0">
                <a:solidFill>
                  <a:schemeClr val="tx2"/>
                </a:solidFill>
              </a:rPr>
              <a:t>31 stress tests triggered on a synthetic $862m banking book. Example: a story that Florida could face Disney's $1B district debt (22 Apr 2022, impact 9) triggers a Disney credit shock costing $14.2m.</a:t>
            </a:r>
            <a:endParaRPr lang="en-US" sz="1400" dirty="0"/>
          </a:p>
        </p:txBody>
      </p:sp>
      <p:graphicFrame>
        <p:nvGraphicFramePr>
          <p:cNvPr id="13" name="stress chart" descr=""/>
          <p:cNvGraphicFramePr/>
          <p:nvPr/>
        </p:nvGraphicFramePr>
        <p:xfrm>
          <a:off x="6035040" y="1325880"/>
          <a:ext cx="562356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502920"/>
            <a:ext cx="1097280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Limitations and next steps</a:t>
            </a:r>
            <a:endParaRPr lang="en-US" sz="3600" dirty="0"/>
          </a:p>
        </p:txBody>
      </p:sp>
      <p:sp>
        <p:nvSpPr>
          <p:cNvPr id="3" name="square "/>
          <p:cNvSpPr/>
          <p:nvPr/>
        </p:nvSpPr>
        <p:spPr>
          <a:xfrm>
            <a:off x="640080" y="1691640"/>
            <a:ext cx="329184" cy="329184"/>
          </a:xfrm>
          <a:prstGeom prst="roundRect">
            <a:avLst>
              <a:gd name="adj" fmla="val 22222"/>
            </a:avLst>
          </a:prstGeom>
          <a:solidFill>
            <a:schemeClr val="accent2"/>
          </a:solidFill>
          <a:ln w="12700">
            <a:solidFill>
              <a:schemeClr val="accent2"/>
            </a:solidFill>
            <a:prstDash val="solid"/>
          </a:ln>
        </p:spPr>
      </p:sp>
      <p:sp>
        <p:nvSpPr>
          <p:cNvPr id="4" name="Text 2"/>
          <p:cNvSpPr txBox="1"/>
          <p:nvPr/>
        </p:nvSpPr>
        <p:spPr>
          <a:xfrm>
            <a:off x="640080" y="1691640"/>
            <a:ext cx="329184" cy="329184"/>
          </a:xfrm>
          <a:prstGeom prst="rect">
            <a:avLst/>
          </a:prstGeom>
          <a:noFill/>
          <a:ln/>
        </p:spPr>
        <p:txBody>
          <a:bodyPr wrap="square" lIns="0" tIns="0" rIns="0" bIns="0" rtlCol="0" anchor="ctr"/>
          <a:lstStyle/>
          <a:p>
            <a:pPr algn="ctr" indent="0" marL="0">
              <a:buNone/>
            </a:pPr>
            <a:endParaRPr lang="en-US" sz="1600" dirty="0"/>
          </a:p>
        </p:txBody>
      </p:sp>
      <p:sp>
        <p:nvSpPr>
          <p:cNvPr id="5" name="Text 3"/>
          <p:cNvSpPr txBox="1"/>
          <p:nvPr/>
        </p:nvSpPr>
        <p:spPr>
          <a:xfrm>
            <a:off x="1143000" y="1645920"/>
            <a:ext cx="45720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Limitations</a:t>
            </a:r>
            <a:endParaRPr lang="en-US" sz="2200" dirty="0"/>
          </a:p>
        </p:txBody>
      </p:sp>
      <p:sp>
        <p:nvSpPr>
          <p:cNvPr id="6" name="Text 4"/>
          <p:cNvSpPr txBox="1"/>
          <p:nvPr/>
        </p:nvSpPr>
        <p:spPr>
          <a:xfrm>
            <a:off x="640080" y="2377440"/>
            <a:ext cx="512064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accent6"/>
                </a:solidFill>
              </a:rPr>
              <a:t>Fine-tuned on news-style tweets; retail chatter ("EARNINGS THREAD") can still score strongly</a:t>
            </a:r>
            <a:endParaRPr lang="en-US" sz="1600" dirty="0"/>
          </a:p>
          <a:p>
            <a:pPr marL="342900" indent="-342900">
              <a:spcAft>
                <a:spcPts val="1200"/>
              </a:spcAft>
              <a:buSzPct val="100000"/>
              <a:buChar char="•"/>
            </a:pPr>
            <a:r>
              <a:rPr lang="en-US" sz="1600" dirty="0">
                <a:solidFill>
                  <a:schemeClr val="accent6"/>
                </a:solidFill>
              </a:rPr>
              <a:t>Word-based event model is fooled by slang ("Gold secured! $TSLA")</a:t>
            </a:r>
            <a:endParaRPr lang="en-US" sz="1600" dirty="0"/>
          </a:p>
          <a:p>
            <a:pPr marL="342900" indent="-342900">
              <a:spcAft>
                <a:spcPts val="1200"/>
              </a:spcAft>
              <a:buSzPct val="100000"/>
              <a:buChar char="•"/>
            </a:pPr>
            <a:r>
              <a:rPr lang="en-US" sz="1600" dirty="0">
                <a:solidFill>
                  <a:schemeClr val="accent6"/>
                </a:solidFill>
              </a:rPr>
              <a:t>Event weights are hand-set; only 49 stock-days scored 7+</a:t>
            </a:r>
            <a:endParaRPr lang="en-US" sz="1600" dirty="0"/>
          </a:p>
          <a:p>
            <a:pPr marL="342900" indent="-342900">
              <a:spcAft>
                <a:spcPts val="1200"/>
              </a:spcAft>
              <a:buSzPct val="100000"/>
              <a:buChar char="•"/>
            </a:pPr>
            <a:r>
              <a:rPr lang="en-US" sz="1600" dirty="0">
                <a:solidFill>
                  <a:schemeClr val="accent6"/>
                </a:solidFill>
              </a:rPr>
              <a:t>Stress shocks are fixed per scenario, first-order valuation</a:t>
            </a:r>
            <a:endParaRPr lang="en-US" sz="1600" dirty="0"/>
          </a:p>
        </p:txBody>
      </p:sp>
      <p:sp>
        <p:nvSpPr>
          <p:cNvPr id="7" name="square "/>
          <p:cNvSpPr/>
          <p:nvPr/>
        </p:nvSpPr>
        <p:spPr>
          <a:xfrm>
            <a:off x="6263640" y="1691640"/>
            <a:ext cx="329184" cy="329184"/>
          </a:xfrm>
          <a:prstGeom prst="roundRect">
            <a:avLst>
              <a:gd name="adj" fmla="val 22222"/>
            </a:avLst>
          </a:prstGeom>
          <a:solidFill>
            <a:schemeClr val="accent1"/>
          </a:solidFill>
          <a:ln w="12700">
            <a:solidFill>
              <a:schemeClr val="accent1"/>
            </a:solidFill>
            <a:prstDash val="solid"/>
          </a:ln>
        </p:spPr>
      </p:sp>
      <p:sp>
        <p:nvSpPr>
          <p:cNvPr id="8" name="Text 6"/>
          <p:cNvSpPr txBox="1"/>
          <p:nvPr/>
        </p:nvSpPr>
        <p:spPr>
          <a:xfrm>
            <a:off x="6263640" y="1691640"/>
            <a:ext cx="329184" cy="329184"/>
          </a:xfrm>
          <a:prstGeom prst="rect">
            <a:avLst/>
          </a:prstGeom>
          <a:noFill/>
          <a:ln/>
        </p:spPr>
        <p:txBody>
          <a:bodyPr wrap="square" lIns="0" tIns="0" rIns="0" bIns="0" rtlCol="0" anchor="ctr"/>
          <a:lstStyle/>
          <a:p>
            <a:pPr algn="ctr" indent="0" marL="0">
              <a:buNone/>
            </a:pPr>
            <a:endParaRPr lang="en-US" sz="1600" dirty="0"/>
          </a:p>
        </p:txBody>
      </p:sp>
      <p:sp>
        <p:nvSpPr>
          <p:cNvPr id="9" name="Text 7"/>
          <p:cNvSpPr txBox="1"/>
          <p:nvPr/>
        </p:nvSpPr>
        <p:spPr>
          <a:xfrm>
            <a:off x="6766560" y="1645920"/>
            <a:ext cx="45720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 steps</a:t>
            </a:r>
            <a:endParaRPr lang="en-US" sz="2200" dirty="0"/>
          </a:p>
        </p:txBody>
      </p:sp>
      <p:sp>
        <p:nvSpPr>
          <p:cNvPr id="10" name="Text 8"/>
          <p:cNvSpPr txBox="1"/>
          <p:nvPr/>
        </p:nvSpPr>
        <p:spPr>
          <a:xfrm>
            <a:off x="6263640" y="2377440"/>
            <a:ext cx="512064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accent6"/>
                </a:solidFill>
              </a:rPr>
              <a:t>Fine-tune further on labelled retail stock tweets</a:t>
            </a:r>
            <a:endParaRPr lang="en-US" sz="1600" dirty="0"/>
          </a:p>
          <a:p>
            <a:pPr marL="342900" indent="-342900">
              <a:spcAft>
                <a:spcPts val="1200"/>
              </a:spcAft>
              <a:buSzPct val="100000"/>
              <a:buChar char="•"/>
            </a:pPr>
            <a:r>
              <a:rPr lang="en-US" sz="1600" dirty="0">
                <a:solidFill>
                  <a:schemeClr val="accent6"/>
                </a:solidFill>
              </a:rPr>
              <a:t>Learn impact weights from realised price moves</a:t>
            </a:r>
            <a:endParaRPr lang="en-US" sz="1600" dirty="0"/>
          </a:p>
          <a:p>
            <a:pPr marL="342900" indent="-342900">
              <a:spcAft>
                <a:spcPts val="1200"/>
              </a:spcAft>
              <a:buSzPct val="100000"/>
              <a:buChar char="•"/>
            </a:pPr>
            <a:r>
              <a:rPr lang="en-US" sz="1600" dirty="0">
                <a:solidFill>
                  <a:schemeClr val="accent6"/>
                </a:solidFill>
              </a:rPr>
              <a:t>Size each shock to the specific event; full repricing</a:t>
            </a:r>
            <a:endParaRPr lang="en-US" sz="1600" dirty="0"/>
          </a:p>
          <a:p>
            <a:pPr marL="342900" indent="-342900">
              <a:spcAft>
                <a:spcPts val="1200"/>
              </a:spcAft>
              <a:buSzPct val="100000"/>
              <a:buChar char="•"/>
            </a:pPr>
            <a:r>
              <a:rPr lang="en-US" sz="1600" dirty="0">
                <a:solidFill>
                  <a:schemeClr val="accent6"/>
                </a:solidFill>
              </a:rPr>
              <a:t>Streaming news feed instead of rate-limited GDELT polling</a:t>
            </a:r>
            <a:endParaRPr lang="en-US" sz="1600" dirty="0"/>
          </a:p>
        </p:txBody>
      </p:sp>
      <p:sp>
        <p:nvSpPr>
          <p:cNvPr id="11" name="Text 9"/>
          <p:cNvSpPr txBox="1"/>
          <p:nvPr/>
        </p:nvSpPr>
        <p:spPr>
          <a:xfrm>
            <a:off x="640080" y="5852160"/>
            <a:ext cx="10972800" cy="457200"/>
          </a:xfrm>
          <a:prstGeom prst="rect">
            <a:avLst/>
          </a:prstGeom>
          <a:noFill/>
          <a:ln/>
        </p:spPr>
        <p:txBody>
          <a:bodyPr wrap="square" lIns="0" tIns="0" rIns="0" bIns="0" rtlCol="0" anchor="t"/>
          <a:lstStyle/>
          <a:p>
            <a:pPr indent="0" marL="0">
              <a:buNone/>
            </a:pPr>
            <a:r>
              <a:rPr lang="en-US" sz="1400" dirty="0">
                <a:solidFill>
                  <a:schemeClr val="accent6"/>
                </a:solidFill>
              </a:rPr>
              <a:t>Code, data and demo: github.com/avijitdutta1230000-crypto/VIT_Vellore-Avijit_Dutta-hackathon</a:t>
            </a:r>
            <a:endParaRPr lang="en-US" sz="1400" dirty="0"/>
          </a:p>
        </p:txBody>
      </p:sp>
      <p:sp>
        <p:nvSpPr>
          <p:cNvPr id="13" name="Text 0"/>
          <p:cNvSpPr/>
          <p:nvPr>
            <p:ph idx="100" type="title" hasCustomPrompt="1"/>
          </p:nvPr>
        </p:nvSpPr>
        <p:spPr>
          <a:xfrm>
            <a:off x="640080" y="1463040"/>
            <a:ext cx="6949440" cy="1371600"/>
          </a:xfrm>
          <a:prstGeom prst="rect">
            <a:avLst/>
          </a:prstGeom>
          <a:noFill/>
          <a:ln/>
        </p:spPr>
        <p:txBody>
          <a:bodyPr wrap="square" lIns="0" tIns="0" rIns="0" bIns="0" rtlCol="0" anchor="b"/>
          <a:lstStyle/>
          <a:p>
            <a:pPr algn="l" indent="0" marL="0">
              <a:buNone/>
            </a:pPr>
            <a:endParaRPr lang="en-US" sz="5400" dirty="0"/>
          </a:p>
        </p:txBody>
      </p:sp>
      <p:sp>
        <p:nvSpPr>
          <p:cNvPr id="14" name="Text 0"/>
          <p:cNvSpPr/>
          <p:nvPr>
            <p:ph idx="101" type="body" hasCustomPrompt="1"/>
          </p:nvPr>
        </p:nvSpPr>
        <p:spPr>
          <a:xfrm>
            <a:off x="640080" y="2971800"/>
            <a:ext cx="6583680" cy="10972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RiskPulse">
  <a:themeElements>
    <a:clrScheme name="RiskPulse">
      <a:dk1>
        <a:srgbClr val="1F2933"/>
      </a:dk1>
      <a:lt1>
        <a:srgbClr val="FFFFFF"/>
      </a:lt1>
      <a:dk2>
        <a:srgbClr val="52606D"/>
      </a:dk2>
      <a:lt2>
        <a:srgbClr val="F3F5F7"/>
      </a:lt2>
      <a:accent1>
        <a:srgbClr val="127A70"/>
      </a:accent1>
      <a:accent2>
        <a:srgbClr val="B5384B"/>
      </a:accent2>
      <a:accent3>
        <a:srgbClr val="C98A00"/>
      </a:accent3>
      <a:accent4>
        <a:srgbClr val="7B8794"/>
      </a:accent4>
      <a:accent5>
        <a:srgbClr val="0E5A53"/>
      </a:accent5>
      <a:accent6>
        <a:srgbClr val="E4E7EB"/>
      </a:accent6>
      <a:hlink>
        <a:srgbClr val="127A70"/>
      </a:hlink>
      <a:folHlink>
        <a:srgbClr val="52606D"/>
      </a:folHlink>
    </a:clrScheme>
    <a:fontScheme name="Risk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RiskPulse: AI/NLP Financial Risk Engine</dc:title>
  <dc:subject>PptxGenJS Presentation</dc:subject>
  <dc:creator>Avijit Dutta</dc:creator>
  <cp:lastModifiedBy>Avijit Dutta</cp:lastModifiedBy>
  <cp:revision>1</cp:revision>
  <dcterms:created xsi:type="dcterms:W3CDTF">2026-10-04T13:07:38Z</dcterms:created>
  <dcterms:modified xsi:type="dcterms:W3CDTF">2026-10-04T13:07:38Z</dcterms:modified>
</cp:coreProperties>
</file>